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4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7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4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6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3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5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30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56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7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2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44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0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5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7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Uzum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Mavzu</a:t>
            </a:r>
            <a:r>
              <a:rPr dirty="0"/>
              <a:t>: </a:t>
            </a:r>
            <a:r>
              <a:rPr dirty="0" err="1"/>
              <a:t>Uzum</a:t>
            </a:r>
            <a:r>
              <a:rPr dirty="0"/>
              <a:t> Bank </a:t>
            </a:r>
            <a:r>
              <a:rPr dirty="0" err="1"/>
              <a:t>faoliyati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xizmatlari</a:t>
            </a:r>
            <a:r>
              <a:rPr dirty="0"/>
              <a:t> </a:t>
            </a:r>
            <a:r>
              <a:rPr dirty="0" err="1"/>
              <a:t>haqida</a:t>
            </a:r>
            <a:r>
              <a:rPr dirty="0"/>
              <a:t> </a:t>
            </a:r>
            <a:r>
              <a:rPr dirty="0" err="1"/>
              <a:t>ma’lumot</a:t>
            </a:r>
            <a:endParaRPr dirty="0"/>
          </a:p>
          <a:p>
            <a:pPr>
              <a:defRPr sz="2000"/>
            </a:pPr>
            <a:r>
              <a:rPr dirty="0" err="1"/>
              <a:t>Taqdimotchining</a:t>
            </a:r>
            <a:r>
              <a:rPr dirty="0"/>
              <a:t> </a:t>
            </a:r>
            <a:r>
              <a:rPr dirty="0" err="1"/>
              <a:t>ismi</a:t>
            </a:r>
            <a:r>
              <a:rPr dirty="0"/>
              <a:t>: </a:t>
            </a:r>
            <a:r>
              <a:rPr dirty="0" smtClean="0"/>
              <a:t>______</a:t>
            </a:r>
            <a:r>
              <a:rPr lang="en-US" dirty="0" smtClean="0"/>
              <a:t>______________</a:t>
            </a:r>
            <a:endParaRPr dirty="0"/>
          </a:p>
          <a:p>
            <a:pPr>
              <a:defRPr sz="2000"/>
            </a:pPr>
            <a:r>
              <a:rPr lang="en-US" dirty="0" smtClean="0"/>
              <a:t>Fan </a:t>
            </a:r>
            <a:r>
              <a:rPr lang="en-US" dirty="0" err="1" smtClean="0"/>
              <a:t>o’qituvchisining</a:t>
            </a:r>
            <a:r>
              <a:rPr lang="en-US" dirty="0" smtClean="0"/>
              <a:t> </a:t>
            </a:r>
            <a:r>
              <a:rPr lang="en-US" dirty="0" err="1" smtClean="0"/>
              <a:t>ismi</a:t>
            </a:r>
            <a:r>
              <a:rPr lang="en-US" dirty="0" smtClean="0"/>
              <a:t>: _________________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7729390" cy="709865"/>
          </a:xfrm>
        </p:spPr>
        <p:txBody>
          <a:bodyPr/>
          <a:lstStyle/>
          <a:p>
            <a:pPr>
              <a:defRPr sz="3200" b="1"/>
            </a:pPr>
            <a:r>
              <a:rPr dirty="0" err="1"/>
              <a:t>Uzum</a:t>
            </a:r>
            <a:r>
              <a:rPr dirty="0"/>
              <a:t> Bank </a:t>
            </a:r>
            <a:r>
              <a:rPr dirty="0" err="1"/>
              <a:t>haqida</a:t>
            </a:r>
            <a:r>
              <a:rPr dirty="0"/>
              <a:t> </a:t>
            </a:r>
            <a:r>
              <a:rPr dirty="0" err="1"/>
              <a:t>umumiy</a:t>
            </a:r>
            <a:r>
              <a:rPr dirty="0"/>
              <a:t> </a:t>
            </a:r>
            <a:r>
              <a:rPr dirty="0" err="1"/>
              <a:t>ma’lumot</a:t>
            </a:r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70" y="2148840"/>
            <a:ext cx="7802880" cy="3925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 err="1"/>
              <a:t>Bankning</a:t>
            </a:r>
            <a:r>
              <a:rPr dirty="0"/>
              <a:t> </a:t>
            </a:r>
            <a:r>
              <a:rPr dirty="0" err="1"/>
              <a:t>asosiy</a:t>
            </a:r>
            <a:r>
              <a:rPr dirty="0"/>
              <a:t> </a:t>
            </a:r>
            <a:r>
              <a:rPr dirty="0" err="1"/>
              <a:t>vazifalari</a:t>
            </a:r>
            <a:endParaRPr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10540" y="2353168"/>
            <a:ext cx="846033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alibri" panose="020F0502020204030204" pitchFamily="34" charset="0"/>
              </a:rPr>
              <a:t>Moliyaviy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xizmatlar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ko‘rsatish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mijozlarga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hisob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raqamlari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to‘lovlar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o‘tkazmalar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imkoniyatini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berish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Kreditlash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jismoniy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yuridik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shaxslarga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kredit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muddatli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to‘lov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mikroqarzlar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taqdim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etish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To‘lov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ekotizimini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rivojlantirish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onlayn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oflayn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savdolarda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qulay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tezkor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to‘lov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tizimlarini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yo‘lga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qo‘yish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Omonatlar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jalb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qilish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aholi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tadbirkorlarning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pul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mablag‘larini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saqlash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ularga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foiz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to‘lash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Raqamli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xizmatlar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mobil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ilova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orqali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barcha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bank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xizmatlarini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tezkor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qulay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tarzda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taqdim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etish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 err="1"/>
              <a:t>Ustav</a:t>
            </a:r>
            <a:r>
              <a:rPr dirty="0"/>
              <a:t> </a:t>
            </a:r>
            <a:r>
              <a:rPr dirty="0" err="1"/>
              <a:t>kapitali</a:t>
            </a:r>
            <a:endParaRPr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65970" y="2152963"/>
            <a:ext cx="77125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Ustav</a:t>
            </a:r>
            <a:r>
              <a:rPr lang="en-US" sz="1400" b="1" dirty="0"/>
              <a:t> </a:t>
            </a:r>
            <a:r>
              <a:rPr lang="en-US" sz="1400" b="1" dirty="0" err="1"/>
              <a:t>kapitali</a:t>
            </a:r>
            <a:r>
              <a:rPr lang="en-US" sz="1400" b="1" dirty="0"/>
              <a:t> </a:t>
            </a:r>
            <a:r>
              <a:rPr lang="en-US" sz="1400" b="1" dirty="0" err="1"/>
              <a:t>miqdori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Hozirgi</a:t>
            </a:r>
            <a:r>
              <a:rPr lang="en-US" sz="1400" dirty="0"/>
              <a:t> </a:t>
            </a:r>
            <a:r>
              <a:rPr lang="en-US" sz="1400" dirty="0" err="1"/>
              <a:t>vaqtda</a:t>
            </a:r>
            <a:r>
              <a:rPr lang="en-US" sz="1400" dirty="0"/>
              <a:t> </a:t>
            </a:r>
            <a:r>
              <a:rPr lang="en-US" sz="1400" dirty="0" err="1"/>
              <a:t>Uzum</a:t>
            </a:r>
            <a:r>
              <a:rPr lang="en-US" sz="1400" dirty="0"/>
              <a:t> </a:t>
            </a:r>
            <a:r>
              <a:rPr lang="en-US" sz="1400" dirty="0" err="1"/>
              <a:t>Bankning</a:t>
            </a:r>
            <a:r>
              <a:rPr lang="en-US" sz="1400" dirty="0"/>
              <a:t> </a:t>
            </a:r>
            <a:r>
              <a:rPr lang="en-US" sz="1400" dirty="0" err="1"/>
              <a:t>ustav</a:t>
            </a:r>
            <a:r>
              <a:rPr lang="en-US" sz="1400" dirty="0"/>
              <a:t> </a:t>
            </a:r>
            <a:r>
              <a:rPr lang="en-US" sz="1400" dirty="0" err="1"/>
              <a:t>kapitali</a:t>
            </a:r>
            <a:r>
              <a:rPr lang="en-US" sz="1400" dirty="0"/>
              <a:t> </a:t>
            </a:r>
            <a:r>
              <a:rPr lang="en-US" sz="1400" b="1" dirty="0"/>
              <a:t>350 milliard </a:t>
            </a:r>
            <a:r>
              <a:rPr lang="en-US" sz="1400" b="1" dirty="0" err="1"/>
              <a:t>so‘m</a:t>
            </a:r>
            <a:r>
              <a:rPr lang="en-US" sz="1400" dirty="0"/>
              <a:t> </a:t>
            </a:r>
            <a:r>
              <a:rPr lang="en-US" sz="1400" dirty="0" err="1"/>
              <a:t>etib</a:t>
            </a:r>
            <a:r>
              <a:rPr lang="en-US" sz="1400" dirty="0"/>
              <a:t> </a:t>
            </a:r>
            <a:r>
              <a:rPr lang="en-US" sz="1400" dirty="0" err="1"/>
              <a:t>belgilangan</a:t>
            </a:r>
            <a:r>
              <a:rPr lang="en-US" sz="14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Bank </a:t>
            </a:r>
            <a:r>
              <a:rPr lang="en-US" sz="1400" dirty="0" err="1"/>
              <a:t>ustav</a:t>
            </a:r>
            <a:r>
              <a:rPr lang="en-US" sz="1400" dirty="0"/>
              <a:t> </a:t>
            </a:r>
            <a:r>
              <a:rPr lang="en-US" sz="1400" dirty="0" err="1"/>
              <a:t>kapitalini</a:t>
            </a:r>
            <a:r>
              <a:rPr lang="en-US" sz="1400" dirty="0"/>
              <a:t> </a:t>
            </a:r>
            <a:r>
              <a:rPr lang="en-US" sz="1400" b="1" dirty="0"/>
              <a:t>500 milliard </a:t>
            </a:r>
            <a:r>
              <a:rPr lang="en-US" sz="1400" b="1" dirty="0" err="1"/>
              <a:t>so‘m</a:t>
            </a:r>
            <a:r>
              <a:rPr lang="en-US" sz="1400" dirty="0" err="1"/>
              <a:t>ga</a:t>
            </a:r>
            <a:r>
              <a:rPr lang="en-US" sz="1400" dirty="0"/>
              <a:t> </a:t>
            </a:r>
            <a:r>
              <a:rPr lang="en-US" sz="1400" dirty="0" err="1"/>
              <a:t>oshirish</a:t>
            </a:r>
            <a:r>
              <a:rPr lang="en-US" sz="1400" dirty="0"/>
              <a:t> </a:t>
            </a:r>
            <a:r>
              <a:rPr lang="en-US" sz="1400" dirty="0" err="1"/>
              <a:t>rejasida</a:t>
            </a:r>
            <a:r>
              <a:rPr lang="en-US" sz="1400" dirty="0"/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65970" y="3230181"/>
            <a:ext cx="77125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Oshirish</a:t>
            </a:r>
            <a:r>
              <a:rPr lang="en-US" sz="1400" b="1" dirty="0"/>
              <a:t> </a:t>
            </a:r>
            <a:r>
              <a:rPr lang="en-US" sz="1400" b="1" dirty="0" err="1"/>
              <a:t>jarayoni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Bank </a:t>
            </a:r>
            <a:r>
              <a:rPr lang="en-US" sz="1400" dirty="0" err="1"/>
              <a:t>qo‘shimcha</a:t>
            </a:r>
            <a:r>
              <a:rPr lang="en-US" sz="1400" dirty="0"/>
              <a:t> </a:t>
            </a:r>
            <a:r>
              <a:rPr lang="en-US" sz="1400" dirty="0" err="1"/>
              <a:t>kapitallashuv</a:t>
            </a:r>
            <a:r>
              <a:rPr lang="en-US" sz="1400" dirty="0"/>
              <a:t> </a:t>
            </a:r>
            <a:r>
              <a:rPr lang="en-US" sz="1400" dirty="0" err="1"/>
              <a:t>uchun</a:t>
            </a:r>
            <a:r>
              <a:rPr lang="en-US" sz="1400" dirty="0"/>
              <a:t> </a:t>
            </a:r>
            <a:r>
              <a:rPr lang="en-US" sz="1400" b="1" dirty="0"/>
              <a:t>150 milliard </a:t>
            </a:r>
            <a:r>
              <a:rPr lang="en-US" sz="1400" b="1" dirty="0" err="1"/>
              <a:t>so‘mlik</a:t>
            </a:r>
            <a:r>
              <a:rPr lang="en-US" sz="1400" b="1" dirty="0"/>
              <a:t> </a:t>
            </a:r>
            <a:r>
              <a:rPr lang="en-US" sz="1400" b="1" dirty="0" err="1"/>
              <a:t>akciyalar</a:t>
            </a:r>
            <a:r>
              <a:rPr lang="en-US" sz="1400" dirty="0"/>
              <a:t> </a:t>
            </a:r>
            <a:r>
              <a:rPr lang="en-US" sz="1400" dirty="0" err="1"/>
              <a:t>chiqarishni</a:t>
            </a:r>
            <a:r>
              <a:rPr lang="en-US" sz="1400" dirty="0"/>
              <a:t> </a:t>
            </a:r>
            <a:r>
              <a:rPr lang="en-US" sz="1400" dirty="0" err="1"/>
              <a:t>rejalashtirgan</a:t>
            </a:r>
            <a:r>
              <a:rPr lang="en-US" sz="14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Ushbu</a:t>
            </a:r>
            <a:r>
              <a:rPr lang="en-US" sz="1400" dirty="0"/>
              <a:t> </a:t>
            </a:r>
            <a:r>
              <a:rPr lang="en-US" sz="1400" dirty="0" err="1"/>
              <a:t>aksiyalar</a:t>
            </a:r>
            <a:r>
              <a:rPr lang="en-US" sz="1400" dirty="0"/>
              <a:t> “Continent Arm Investments” </a:t>
            </a:r>
            <a:r>
              <a:rPr lang="en-US" sz="1400" dirty="0" err="1"/>
              <a:t>MChJda</a:t>
            </a:r>
            <a:r>
              <a:rPr lang="en-US" sz="1400" dirty="0"/>
              <a:t> </a:t>
            </a:r>
            <a:r>
              <a:rPr lang="en-US" sz="1400" dirty="0" err="1"/>
              <a:t>joylashtiriladi</a:t>
            </a:r>
            <a:r>
              <a:rPr lang="en-US" sz="1400" dirty="0"/>
              <a:t>, </a:t>
            </a:r>
            <a:r>
              <a:rPr lang="en-US" sz="1400" dirty="0" err="1"/>
              <a:t>bankning</a:t>
            </a:r>
            <a:r>
              <a:rPr lang="en-US" sz="1400" dirty="0"/>
              <a:t> </a:t>
            </a:r>
            <a:r>
              <a:rPr lang="en-US" sz="1400" dirty="0" err="1"/>
              <a:t>asoschisi</a:t>
            </a:r>
            <a:r>
              <a:rPr lang="en-US" sz="1400" dirty="0"/>
              <a:t> </a:t>
            </a:r>
            <a:r>
              <a:rPr lang="en-US" sz="1400" dirty="0" err="1"/>
              <a:t>bo‘lgan</a:t>
            </a:r>
            <a:r>
              <a:rPr lang="en-US" sz="1400" dirty="0"/>
              <a:t> UB Assets Holding </a:t>
            </a:r>
            <a:r>
              <a:rPr lang="en-US" sz="1400" dirty="0" err="1"/>
              <a:t>tomonidan</a:t>
            </a:r>
            <a:r>
              <a:rPr lang="en-US" sz="1400" dirty="0"/>
              <a:t>. 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865970" y="4549373"/>
            <a:ext cx="779376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/>
              <a:t>Qonunchilik</a:t>
            </a:r>
            <a:r>
              <a:rPr lang="en-US" sz="1400" b="1" dirty="0"/>
              <a:t> </a:t>
            </a:r>
            <a:r>
              <a:rPr lang="en-US" sz="1400" b="1" dirty="0" err="1"/>
              <a:t>va</a:t>
            </a:r>
            <a:r>
              <a:rPr lang="en-US" sz="1400" b="1" dirty="0"/>
              <a:t> minimal </a:t>
            </a:r>
            <a:r>
              <a:rPr lang="en-US" sz="1400" b="1" dirty="0" err="1"/>
              <a:t>talab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O‘zbekiston</a:t>
            </a:r>
            <a:r>
              <a:rPr lang="en-US" sz="1400" dirty="0"/>
              <a:t> </a:t>
            </a:r>
            <a:r>
              <a:rPr lang="en-US" sz="1400" dirty="0" err="1"/>
              <a:t>Respublikasi</a:t>
            </a:r>
            <a:r>
              <a:rPr lang="en-US" sz="1400" dirty="0"/>
              <a:t> </a:t>
            </a:r>
            <a:r>
              <a:rPr lang="en-US" sz="1400" dirty="0" err="1"/>
              <a:t>Markaziy</a:t>
            </a:r>
            <a:r>
              <a:rPr lang="en-US" sz="1400" dirty="0"/>
              <a:t> </a:t>
            </a:r>
            <a:r>
              <a:rPr lang="en-US" sz="1400" dirty="0" err="1"/>
              <a:t>banki</a:t>
            </a:r>
            <a:r>
              <a:rPr lang="en-US" sz="1400" dirty="0"/>
              <a:t> </a:t>
            </a:r>
            <a:r>
              <a:rPr lang="en-US" sz="1400" dirty="0" err="1"/>
              <a:t>tomonidan</a:t>
            </a:r>
            <a:r>
              <a:rPr lang="en-US" sz="1400" dirty="0"/>
              <a:t> </a:t>
            </a:r>
            <a:r>
              <a:rPr lang="en-US" sz="1400" dirty="0" err="1"/>
              <a:t>banklar</a:t>
            </a:r>
            <a:r>
              <a:rPr lang="en-US" sz="1400" dirty="0"/>
              <a:t> </a:t>
            </a:r>
            <a:r>
              <a:rPr lang="en-US" sz="1400" dirty="0" err="1"/>
              <a:t>uchun</a:t>
            </a:r>
            <a:r>
              <a:rPr lang="en-US" sz="1400" dirty="0"/>
              <a:t> </a:t>
            </a:r>
            <a:r>
              <a:rPr lang="en-US" sz="1400" dirty="0" err="1"/>
              <a:t>ustav</a:t>
            </a:r>
            <a:r>
              <a:rPr lang="en-US" sz="1400" dirty="0"/>
              <a:t> </a:t>
            </a:r>
            <a:r>
              <a:rPr lang="en-US" sz="1400" dirty="0" err="1"/>
              <a:t>kapitali</a:t>
            </a:r>
            <a:r>
              <a:rPr lang="en-US" sz="1400" dirty="0"/>
              <a:t> </a:t>
            </a:r>
            <a:r>
              <a:rPr lang="en-US" sz="1400" dirty="0" err="1"/>
              <a:t>bo‘yicha</a:t>
            </a:r>
            <a:r>
              <a:rPr lang="en-US" sz="1400" dirty="0"/>
              <a:t> minimal </a:t>
            </a:r>
            <a:r>
              <a:rPr lang="en-US" sz="1400" dirty="0" err="1"/>
              <a:t>talab</a:t>
            </a:r>
            <a:r>
              <a:rPr lang="en-US" sz="1400" dirty="0"/>
              <a:t> </a:t>
            </a:r>
            <a:r>
              <a:rPr lang="en-US" sz="1400" dirty="0" err="1"/>
              <a:t>bosqichma-bosqich</a:t>
            </a:r>
            <a:r>
              <a:rPr lang="en-US" sz="1400" dirty="0"/>
              <a:t> </a:t>
            </a:r>
            <a:r>
              <a:rPr lang="en-US" sz="1400" dirty="0" err="1"/>
              <a:t>oshirilmoqda</a:t>
            </a:r>
            <a:r>
              <a:rPr lang="en-US" sz="1400" dirty="0"/>
              <a:t>. 2023 </a:t>
            </a:r>
            <a:r>
              <a:rPr lang="en-US" sz="1400" dirty="0" err="1"/>
              <a:t>yil</a:t>
            </a:r>
            <a:r>
              <a:rPr lang="en-US" sz="1400" dirty="0"/>
              <a:t> </a:t>
            </a:r>
            <a:r>
              <a:rPr lang="en-US" sz="1400" dirty="0" err="1"/>
              <a:t>aprelidan</a:t>
            </a:r>
            <a:r>
              <a:rPr lang="en-US" sz="1400" dirty="0"/>
              <a:t> </a:t>
            </a:r>
            <a:r>
              <a:rPr lang="en-US" sz="1400" dirty="0" err="1"/>
              <a:t>boshlab</a:t>
            </a:r>
            <a:r>
              <a:rPr lang="en-US" sz="1400" dirty="0"/>
              <a:t> </a:t>
            </a:r>
            <a:r>
              <a:rPr lang="en-US" sz="1400" dirty="0" err="1"/>
              <a:t>bu</a:t>
            </a:r>
            <a:r>
              <a:rPr lang="en-US" sz="1400" dirty="0"/>
              <a:t> </a:t>
            </a:r>
            <a:r>
              <a:rPr lang="en-US" sz="1400" dirty="0" err="1"/>
              <a:t>talab</a:t>
            </a:r>
            <a:r>
              <a:rPr lang="en-US" sz="1400" dirty="0"/>
              <a:t> 250 milliard </a:t>
            </a:r>
            <a:r>
              <a:rPr lang="en-US" sz="1400" dirty="0" err="1"/>
              <a:t>so‘mgacha</a:t>
            </a:r>
            <a:r>
              <a:rPr lang="en-US" sz="1400" dirty="0"/>
              <a:t> </a:t>
            </a:r>
            <a:r>
              <a:rPr lang="en-US" sz="1400" dirty="0" err="1"/>
              <a:t>oshirilishi</a:t>
            </a:r>
            <a:r>
              <a:rPr lang="en-US" sz="1400" dirty="0"/>
              <a:t> </a:t>
            </a:r>
            <a:r>
              <a:rPr lang="en-US" sz="1400" dirty="0" err="1"/>
              <a:t>kerakligi</a:t>
            </a:r>
            <a:r>
              <a:rPr lang="en-US" sz="1400" dirty="0"/>
              <a:t>, 2025 </a:t>
            </a:r>
            <a:r>
              <a:rPr lang="en-US" sz="1400" dirty="0" err="1"/>
              <a:t>yilda</a:t>
            </a:r>
            <a:r>
              <a:rPr lang="en-US" sz="1400" dirty="0"/>
              <a:t> </a:t>
            </a:r>
            <a:r>
              <a:rPr lang="en-US" sz="1400" dirty="0" err="1"/>
              <a:t>esa</a:t>
            </a:r>
            <a:r>
              <a:rPr lang="en-US" sz="1400" dirty="0"/>
              <a:t> 500 milliard </a:t>
            </a:r>
            <a:r>
              <a:rPr lang="en-US" sz="1400" dirty="0" err="1"/>
              <a:t>so‘m</a:t>
            </a:r>
            <a:r>
              <a:rPr lang="en-US" sz="1400" dirty="0"/>
              <a:t> </a:t>
            </a:r>
            <a:r>
              <a:rPr lang="en-US" sz="1400" dirty="0" err="1"/>
              <a:t>bo‘lishi</a:t>
            </a:r>
            <a:r>
              <a:rPr lang="en-US" sz="1400" dirty="0"/>
              <a:t> </a:t>
            </a:r>
            <a:r>
              <a:rPr lang="en-US" sz="1400" dirty="0" err="1"/>
              <a:t>kutilmoqda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Aksiyalar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352040"/>
            <a:ext cx="6345260" cy="353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 err="1" smtClean="0"/>
              <a:t>Asosiy</a:t>
            </a:r>
            <a:r>
              <a:rPr lang="en-US" sz="1600" b="1" dirty="0" smtClean="0"/>
              <a:t> </a:t>
            </a:r>
            <a:r>
              <a:rPr lang="en-US" sz="1600" b="1" dirty="0" err="1"/>
              <a:t>ma’lumotlar</a:t>
            </a:r>
            <a:endParaRPr lang="en-US" sz="1600" b="1" dirty="0"/>
          </a:p>
          <a:p>
            <a:r>
              <a:rPr lang="en-US" sz="1600" b="1" dirty="0" err="1"/>
              <a:t>Uzum</a:t>
            </a:r>
            <a:r>
              <a:rPr lang="en-US" sz="1600" b="1" dirty="0"/>
              <a:t> Bank </a:t>
            </a:r>
            <a:r>
              <a:rPr lang="en-US" sz="1600" b="1" dirty="0" err="1" smtClean="0"/>
              <a:t>aksiyadorlik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jamiyati</a:t>
            </a:r>
            <a:r>
              <a:rPr lang="en-US" sz="1600" b="1" dirty="0" smtClean="0"/>
              <a:t> </a:t>
            </a:r>
            <a:r>
              <a:rPr lang="en-US" sz="1600" b="1" dirty="0"/>
              <a:t>(JSC)</a:t>
            </a:r>
            <a:r>
              <a:rPr lang="en-US" sz="1600" dirty="0"/>
              <a:t> </a:t>
            </a:r>
            <a:r>
              <a:rPr lang="en-US" sz="1600" dirty="0" err="1"/>
              <a:t>shaklida</a:t>
            </a:r>
            <a:r>
              <a:rPr lang="en-US" sz="1600" dirty="0"/>
              <a:t> </a:t>
            </a:r>
            <a:r>
              <a:rPr lang="en-US" sz="1600" dirty="0" err="1"/>
              <a:t>faoliyat</a:t>
            </a:r>
            <a:r>
              <a:rPr lang="en-US" sz="1600" dirty="0"/>
              <a:t> </a:t>
            </a:r>
            <a:r>
              <a:rPr lang="en-US" sz="1600" dirty="0" err="1"/>
              <a:t>yuritadi</a:t>
            </a:r>
            <a:r>
              <a:rPr lang="en-US" sz="1600" dirty="0" smtClean="0"/>
              <a:t>.</a:t>
            </a:r>
          </a:p>
          <a:p>
            <a:r>
              <a:rPr lang="en-US" sz="1600" dirty="0" err="1"/>
              <a:t>Bankning</a:t>
            </a:r>
            <a:r>
              <a:rPr lang="en-US" sz="1600" dirty="0"/>
              <a:t> </a:t>
            </a:r>
            <a:r>
              <a:rPr lang="en-US" sz="1600" dirty="0" err="1"/>
              <a:t>ustav</a:t>
            </a:r>
            <a:r>
              <a:rPr lang="en-US" sz="1600" dirty="0"/>
              <a:t> </a:t>
            </a:r>
            <a:r>
              <a:rPr lang="en-US" sz="1600" dirty="0" err="1"/>
              <a:t>kapitali</a:t>
            </a:r>
            <a:r>
              <a:rPr lang="en-US" sz="1600" dirty="0"/>
              <a:t> (authorized capital) — </a:t>
            </a:r>
            <a:r>
              <a:rPr lang="en-US" sz="1600" b="1" dirty="0"/>
              <a:t>500 000 000 000 </a:t>
            </a:r>
            <a:r>
              <a:rPr lang="en-US" sz="1600" b="1" dirty="0" err="1"/>
              <a:t>so‘m</a:t>
            </a:r>
            <a:r>
              <a:rPr lang="en-US" sz="1600" dirty="0"/>
              <a:t>. </a:t>
            </a:r>
            <a:endParaRPr lang="en-US" sz="1600" dirty="0" smtClean="0"/>
          </a:p>
          <a:p>
            <a:r>
              <a:rPr lang="en-US" sz="1600" dirty="0" err="1" smtClean="0"/>
              <a:t>Aksiyadorlar</a:t>
            </a:r>
            <a:r>
              <a:rPr lang="en-US" sz="1600" dirty="0" smtClean="0"/>
              <a:t> </a:t>
            </a:r>
            <a:r>
              <a:rPr lang="en-US" sz="1600" dirty="0" err="1"/>
              <a:t>soni</a:t>
            </a:r>
            <a:r>
              <a:rPr lang="en-US" sz="1600" dirty="0"/>
              <a:t> — </a:t>
            </a:r>
            <a:r>
              <a:rPr lang="en-US" sz="1600" b="1" dirty="0"/>
              <a:t>1 </a:t>
            </a:r>
            <a:r>
              <a:rPr lang="en-US" sz="1600" b="1" dirty="0" err="1"/>
              <a:t>nafar</a:t>
            </a:r>
            <a:r>
              <a:rPr lang="en-US" sz="1600" b="1" dirty="0"/>
              <a:t> </a:t>
            </a:r>
            <a:r>
              <a:rPr lang="en-US" sz="1600" b="1" dirty="0" err="1"/>
              <a:t>yuridik</a:t>
            </a:r>
            <a:r>
              <a:rPr lang="en-US" sz="1600" b="1" dirty="0"/>
              <a:t> </a:t>
            </a:r>
            <a:r>
              <a:rPr lang="en-US" sz="1600" b="1" dirty="0" err="1"/>
              <a:t>shaxs</a:t>
            </a:r>
            <a:r>
              <a:rPr lang="en-US" sz="1600" dirty="0"/>
              <a:t>. </a:t>
            </a:r>
            <a:endParaRPr lang="en-US" sz="1600" dirty="0" smtClean="0"/>
          </a:p>
          <a:p>
            <a:pPr marL="0" indent="0">
              <a:buNone/>
            </a:pPr>
            <a:endParaRPr lang="en-US" sz="1600" b="1" dirty="0" smtClean="0"/>
          </a:p>
          <a:p>
            <a:pPr marL="0" indent="0">
              <a:buNone/>
            </a:pPr>
            <a:r>
              <a:rPr lang="en-US" sz="1600" b="1" dirty="0" err="1" smtClean="0"/>
              <a:t>Aksiyalar</a:t>
            </a:r>
            <a:r>
              <a:rPr lang="en-US" sz="1600" b="1" dirty="0" smtClean="0"/>
              <a:t> </a:t>
            </a:r>
            <a:r>
              <a:rPr lang="en-US" sz="1600" b="1" dirty="0" err="1"/>
              <a:t>chiqarilishi</a:t>
            </a:r>
            <a:r>
              <a:rPr lang="en-US" sz="1600" b="1" dirty="0"/>
              <a:t> </a:t>
            </a:r>
            <a:r>
              <a:rPr lang="en-US" sz="1600" b="1" dirty="0" err="1"/>
              <a:t>va</a:t>
            </a:r>
            <a:r>
              <a:rPr lang="en-US" sz="1600" b="1" dirty="0"/>
              <a:t> </a:t>
            </a:r>
            <a:r>
              <a:rPr lang="en-US" sz="1600" b="1" dirty="0" err="1" smtClean="0"/>
              <a:t>turlari</a:t>
            </a:r>
            <a:endParaRPr lang="en-US" sz="1600" b="1" dirty="0" smtClean="0"/>
          </a:p>
          <a:p>
            <a:r>
              <a:rPr lang="en-US" sz="1600" dirty="0"/>
              <a:t>Bank 2024 </a:t>
            </a:r>
            <a:r>
              <a:rPr lang="en-US" sz="1600" dirty="0" err="1"/>
              <a:t>yilda</a:t>
            </a:r>
            <a:r>
              <a:rPr lang="en-US" sz="1600" dirty="0"/>
              <a:t> </a:t>
            </a:r>
            <a:r>
              <a:rPr lang="en-US" sz="1600" b="1" dirty="0"/>
              <a:t>150 million </a:t>
            </a:r>
            <a:r>
              <a:rPr lang="en-US" sz="1600" b="1" dirty="0" err="1"/>
              <a:t>dona</a:t>
            </a:r>
            <a:r>
              <a:rPr lang="en-US" sz="1600" b="1" dirty="0"/>
              <a:t> </a:t>
            </a:r>
            <a:r>
              <a:rPr lang="en-US" sz="1600" b="1" dirty="0" err="1"/>
              <a:t>oddiy</a:t>
            </a:r>
            <a:r>
              <a:rPr lang="en-US" sz="1600" b="1" dirty="0"/>
              <a:t> </a:t>
            </a:r>
            <a:r>
              <a:rPr lang="en-US" sz="1600" b="1" dirty="0" err="1"/>
              <a:t>aksiyalar</a:t>
            </a:r>
            <a:r>
              <a:rPr lang="en-US" sz="1600" dirty="0"/>
              <a:t> </a:t>
            </a:r>
            <a:r>
              <a:rPr lang="en-US" sz="1600" dirty="0" err="1"/>
              <a:t>chiqarishni</a:t>
            </a:r>
            <a:r>
              <a:rPr lang="en-US" sz="1600" dirty="0"/>
              <a:t> </a:t>
            </a:r>
            <a:r>
              <a:rPr lang="en-US" sz="1600" dirty="0" err="1"/>
              <a:t>rejalashtirgan</a:t>
            </a:r>
            <a:r>
              <a:rPr lang="en-US" sz="1600" dirty="0"/>
              <a:t>. </a:t>
            </a:r>
            <a:endParaRPr lang="en-US" sz="1600" dirty="0" smtClean="0"/>
          </a:p>
          <a:p>
            <a:r>
              <a:rPr lang="nn-NO" sz="1600" dirty="0"/>
              <a:t>Bitta aksiyaning nominal qiymati </a:t>
            </a:r>
            <a:r>
              <a:rPr lang="nn-NO" sz="1600" b="1" dirty="0"/>
              <a:t>1 000 so‘m</a:t>
            </a:r>
            <a:r>
              <a:rPr lang="nn-NO" sz="1600" dirty="0"/>
              <a:t> deb belgilangan</a:t>
            </a:r>
            <a:r>
              <a:rPr lang="nn-NO" sz="1600" dirty="0" smtClean="0"/>
              <a:t>.</a:t>
            </a:r>
          </a:p>
          <a:p>
            <a:r>
              <a:rPr lang="en-US" sz="1600" dirty="0"/>
              <a:t>Bu </a:t>
            </a:r>
            <a:r>
              <a:rPr lang="en-US" sz="1600" dirty="0" err="1"/>
              <a:t>aksiya</a:t>
            </a:r>
            <a:r>
              <a:rPr lang="en-US" sz="1600" dirty="0"/>
              <a:t> </a:t>
            </a:r>
            <a:r>
              <a:rPr lang="en-US" sz="1600" dirty="0" err="1"/>
              <a:t>chiqarilishi</a:t>
            </a:r>
            <a:r>
              <a:rPr lang="en-US" sz="1600" dirty="0"/>
              <a:t> </a:t>
            </a:r>
            <a:r>
              <a:rPr lang="en-US" sz="1600" dirty="0" err="1"/>
              <a:t>ustav</a:t>
            </a:r>
            <a:r>
              <a:rPr lang="en-US" sz="1600" dirty="0"/>
              <a:t> </a:t>
            </a:r>
            <a:r>
              <a:rPr lang="en-US" sz="1600" dirty="0" err="1"/>
              <a:t>kapitalini</a:t>
            </a:r>
            <a:r>
              <a:rPr lang="en-US" sz="1600" dirty="0"/>
              <a:t> 350 milliard </a:t>
            </a:r>
            <a:r>
              <a:rPr lang="en-US" sz="1600" dirty="0" err="1"/>
              <a:t>somdan</a:t>
            </a:r>
            <a:r>
              <a:rPr lang="en-US" sz="1600" dirty="0"/>
              <a:t> 500 milliard </a:t>
            </a:r>
            <a:r>
              <a:rPr lang="en-US" sz="1600" dirty="0" err="1"/>
              <a:t>somgacha</a:t>
            </a:r>
            <a:r>
              <a:rPr lang="en-US" sz="1600" dirty="0"/>
              <a:t> </a:t>
            </a:r>
            <a:r>
              <a:rPr lang="en-US" sz="1600" dirty="0" err="1"/>
              <a:t>oshirishga</a:t>
            </a:r>
            <a:r>
              <a:rPr lang="en-US" sz="1600" dirty="0"/>
              <a:t> </a:t>
            </a:r>
            <a:r>
              <a:rPr lang="en-US" sz="1600" dirty="0" err="1"/>
              <a:t>qaratilgan</a:t>
            </a:r>
            <a:r>
              <a:rPr lang="en-US" sz="1600" dirty="0"/>
              <a:t> </a:t>
            </a:r>
            <a:r>
              <a:rPr lang="en-US" sz="1600" dirty="0" err="1"/>
              <a:t>jarayon</a:t>
            </a:r>
            <a:r>
              <a:rPr lang="en-US" sz="1600" dirty="0"/>
              <a:t> </a:t>
            </a:r>
            <a:r>
              <a:rPr lang="en-US" sz="1600" dirty="0" err="1"/>
              <a:t>tarkibida</a:t>
            </a:r>
            <a:r>
              <a:rPr lang="en-US" sz="1600" dirty="0"/>
              <a:t>.</a:t>
            </a:r>
            <a:endParaRPr 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 dirty="0"/>
              <a:t>Bank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boshqaruv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367280"/>
            <a:ext cx="7866550" cy="3530600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sz="1400" dirty="0" smtClean="0"/>
              <a:t>• </a:t>
            </a:r>
            <a:r>
              <a:rPr lang="en-US" sz="1400" b="1" dirty="0" err="1"/>
              <a:t>Nazorat</a:t>
            </a:r>
            <a:r>
              <a:rPr lang="en-US" sz="1400" b="1" dirty="0"/>
              <a:t> </a:t>
            </a:r>
            <a:r>
              <a:rPr lang="en-US" sz="1400" b="1" dirty="0" err="1"/>
              <a:t>kengashi</a:t>
            </a:r>
            <a:r>
              <a:rPr lang="en-US" sz="1400" dirty="0"/>
              <a:t> </a:t>
            </a:r>
            <a:r>
              <a:rPr lang="en-US" sz="1400" dirty="0" err="1"/>
              <a:t>va</a:t>
            </a:r>
            <a:r>
              <a:rPr lang="en-US" sz="1400" dirty="0"/>
              <a:t> </a:t>
            </a:r>
            <a:r>
              <a:rPr lang="en-US" sz="1400" b="1" dirty="0" err="1"/>
              <a:t>Boshqaruv</a:t>
            </a:r>
            <a:r>
              <a:rPr lang="en-US" sz="1400" b="1" dirty="0"/>
              <a:t> </a:t>
            </a:r>
            <a:r>
              <a:rPr lang="en-US" sz="1400" b="1" dirty="0" err="1"/>
              <a:t>Raisi</a:t>
            </a:r>
            <a:r>
              <a:rPr lang="en-US" sz="1400" dirty="0"/>
              <a:t> – </a:t>
            </a:r>
            <a:r>
              <a:rPr lang="en-US" sz="1400" dirty="0" err="1"/>
              <a:t>Bankning</a:t>
            </a:r>
            <a:r>
              <a:rPr lang="en-US" sz="1400" dirty="0"/>
              <a:t> </a:t>
            </a:r>
            <a:r>
              <a:rPr lang="en-US" sz="1400" dirty="0" err="1"/>
              <a:t>boshqaruvi</a:t>
            </a:r>
            <a:r>
              <a:rPr lang="en-US" sz="1400" dirty="0"/>
              <a:t> </a:t>
            </a:r>
            <a:r>
              <a:rPr lang="en-US" sz="1400" dirty="0" err="1"/>
              <a:t>nazorat</a:t>
            </a:r>
            <a:r>
              <a:rPr lang="en-US" sz="1400" dirty="0"/>
              <a:t> </a:t>
            </a:r>
            <a:r>
              <a:rPr lang="en-US" sz="1400" dirty="0" err="1"/>
              <a:t>kengashi</a:t>
            </a:r>
            <a:r>
              <a:rPr lang="en-US" sz="1400" dirty="0"/>
              <a:t> </a:t>
            </a:r>
            <a:r>
              <a:rPr lang="en-US" sz="1400" dirty="0" err="1"/>
              <a:t>orqali</a:t>
            </a:r>
            <a:r>
              <a:rPr lang="en-US" sz="1400" dirty="0"/>
              <a:t> </a:t>
            </a:r>
            <a:r>
              <a:rPr lang="en-US" sz="1400" dirty="0" err="1"/>
              <a:t>tartibga</a:t>
            </a:r>
            <a:r>
              <a:rPr lang="en-US" sz="1400" dirty="0"/>
              <a:t> </a:t>
            </a:r>
            <a:r>
              <a:rPr lang="en-US" sz="1400" dirty="0" err="1"/>
              <a:t>solinadi</a:t>
            </a:r>
            <a:r>
              <a:rPr lang="en-US" sz="1400" dirty="0" smtClean="0"/>
              <a:t>.</a:t>
            </a:r>
          </a:p>
          <a:p>
            <a:pPr marL="0" indent="0">
              <a:buNone/>
              <a:defRPr sz="2000"/>
            </a:pPr>
            <a:r>
              <a:rPr sz="1400" dirty="0" smtClean="0"/>
              <a:t>• </a:t>
            </a:r>
            <a:r>
              <a:rPr lang="en-US" sz="1400" dirty="0" err="1"/>
              <a:t>Boshqaruv</a:t>
            </a:r>
            <a:r>
              <a:rPr lang="en-US" sz="1400" dirty="0"/>
              <a:t> </a:t>
            </a:r>
            <a:r>
              <a:rPr lang="en-US" sz="1400" dirty="0" err="1"/>
              <a:t>raisining</a:t>
            </a:r>
            <a:r>
              <a:rPr lang="en-US" sz="1400" dirty="0"/>
              <a:t> </a:t>
            </a:r>
            <a:r>
              <a:rPr lang="en-US" sz="1400" dirty="0" err="1"/>
              <a:t>vazifalari</a:t>
            </a:r>
            <a:r>
              <a:rPr lang="en-US" sz="1400" dirty="0"/>
              <a:t>: bank </a:t>
            </a:r>
            <a:r>
              <a:rPr lang="en-US" sz="1400" dirty="0" err="1"/>
              <a:t>strategiyasini</a:t>
            </a:r>
            <a:r>
              <a:rPr lang="en-US" sz="1400" dirty="0"/>
              <a:t> </a:t>
            </a:r>
            <a:r>
              <a:rPr lang="en-US" sz="1400" dirty="0" err="1"/>
              <a:t>belgilash</a:t>
            </a:r>
            <a:r>
              <a:rPr lang="en-US" sz="1400" dirty="0"/>
              <a:t>, </a:t>
            </a:r>
            <a:r>
              <a:rPr lang="en-US" sz="1400" dirty="0" err="1"/>
              <a:t>fintech</a:t>
            </a:r>
            <a:r>
              <a:rPr lang="en-US" sz="1400" dirty="0"/>
              <a:t> </a:t>
            </a:r>
            <a:r>
              <a:rPr lang="en-US" sz="1400" dirty="0" err="1"/>
              <a:t>mahsulotlar</a:t>
            </a:r>
            <a:r>
              <a:rPr lang="en-US" sz="1400" dirty="0"/>
              <a:t> </a:t>
            </a:r>
            <a:r>
              <a:rPr lang="en-US" sz="1400" dirty="0" err="1"/>
              <a:t>va</a:t>
            </a:r>
            <a:r>
              <a:rPr lang="en-US" sz="1400" dirty="0"/>
              <a:t> </a:t>
            </a:r>
            <a:r>
              <a:rPr lang="en-US" sz="1400" dirty="0" err="1"/>
              <a:t>raqamli</a:t>
            </a:r>
            <a:r>
              <a:rPr lang="en-US" sz="1400" dirty="0"/>
              <a:t> </a:t>
            </a:r>
            <a:r>
              <a:rPr lang="en-US" sz="1400" dirty="0" err="1"/>
              <a:t>xizmatlarni</a:t>
            </a:r>
            <a:r>
              <a:rPr lang="en-US" sz="1400" dirty="0"/>
              <a:t> </a:t>
            </a:r>
            <a:r>
              <a:rPr lang="en-US" sz="1400" dirty="0" err="1"/>
              <a:t>rivojlantirish</a:t>
            </a:r>
            <a:r>
              <a:rPr lang="en-US" sz="1400" dirty="0"/>
              <a:t>, </a:t>
            </a:r>
            <a:r>
              <a:rPr lang="en-US" sz="1400" dirty="0" err="1"/>
              <a:t>bozordagi</a:t>
            </a:r>
            <a:r>
              <a:rPr lang="en-US" sz="1400" dirty="0"/>
              <a:t> </a:t>
            </a:r>
            <a:r>
              <a:rPr lang="en-US" sz="1400" dirty="0" err="1"/>
              <a:t>mavqeni</a:t>
            </a:r>
            <a:r>
              <a:rPr lang="en-US" sz="1400" dirty="0"/>
              <a:t> </a:t>
            </a:r>
            <a:r>
              <a:rPr lang="en-US" sz="1400" dirty="0" err="1"/>
              <a:t>mustahkamlash</a:t>
            </a:r>
            <a:r>
              <a:rPr lang="en-US" sz="1400" dirty="0"/>
              <a:t>.</a:t>
            </a:r>
            <a:endParaRPr sz="1400" dirty="0" smtClean="0"/>
          </a:p>
          <a:p>
            <a:pPr marL="0" indent="0">
              <a:buNone/>
              <a:defRPr sz="2000"/>
            </a:pPr>
            <a:r>
              <a:rPr sz="1400" dirty="0" smtClean="0"/>
              <a:t>•</a:t>
            </a:r>
            <a:r>
              <a:rPr lang="en-US" sz="1400" b="1" dirty="0" err="1"/>
              <a:t>Biznes-unitlar</a:t>
            </a:r>
            <a:r>
              <a:rPr lang="en-US" sz="1400" dirty="0"/>
              <a:t> </a:t>
            </a:r>
            <a:r>
              <a:rPr lang="en-US" sz="1400" dirty="0" err="1"/>
              <a:t>ichida</a:t>
            </a:r>
            <a:r>
              <a:rPr lang="en-US" sz="1400" dirty="0"/>
              <a:t> </a:t>
            </a:r>
            <a:r>
              <a:rPr lang="en-US" sz="1400" dirty="0" err="1"/>
              <a:t>Uzum</a:t>
            </a:r>
            <a:r>
              <a:rPr lang="en-US" sz="1400" dirty="0"/>
              <a:t> </a:t>
            </a:r>
            <a:r>
              <a:rPr lang="en-US" sz="1400" dirty="0" err="1"/>
              <a:t>ekotizimi</a:t>
            </a:r>
            <a:r>
              <a:rPr lang="en-US" sz="1400" dirty="0"/>
              <a:t> </a:t>
            </a:r>
            <a:r>
              <a:rPr lang="en-US" sz="1400" dirty="0" err="1"/>
              <a:t>tarkibida</a:t>
            </a:r>
            <a:r>
              <a:rPr lang="en-US" sz="1400" dirty="0"/>
              <a:t> </a:t>
            </a:r>
            <a:r>
              <a:rPr lang="en-US" sz="1400" dirty="0" err="1"/>
              <a:t>turli</a:t>
            </a:r>
            <a:r>
              <a:rPr lang="en-US" sz="1400" dirty="0"/>
              <a:t> </a:t>
            </a:r>
            <a:r>
              <a:rPr lang="en-US" sz="1400" dirty="0" err="1"/>
              <a:t>yo‘nalishlar</a:t>
            </a:r>
            <a:r>
              <a:rPr lang="en-US" sz="1400" dirty="0"/>
              <a:t> </a:t>
            </a:r>
            <a:r>
              <a:rPr lang="en-US" sz="1400" dirty="0" err="1" smtClean="0"/>
              <a:t>mavjud</a:t>
            </a:r>
            <a:endParaRPr lang="en-US" sz="1400" dirty="0"/>
          </a:p>
          <a:p>
            <a:pPr>
              <a:defRPr sz="2000"/>
            </a:pPr>
            <a:r>
              <a:rPr lang="en-US" sz="1400" b="1" dirty="0" err="1"/>
              <a:t>Uzum</a:t>
            </a:r>
            <a:r>
              <a:rPr lang="en-US" sz="1400" b="1" dirty="0"/>
              <a:t> Bank</a:t>
            </a:r>
            <a:r>
              <a:rPr lang="en-US" sz="1400" dirty="0"/>
              <a:t> – </a:t>
            </a:r>
            <a:r>
              <a:rPr lang="en-US" sz="1400" dirty="0" err="1"/>
              <a:t>raqamli</a:t>
            </a:r>
            <a:r>
              <a:rPr lang="en-US" sz="1400" dirty="0"/>
              <a:t> bank </a:t>
            </a:r>
            <a:r>
              <a:rPr lang="en-US" sz="1400" dirty="0" err="1"/>
              <a:t>xizmatlarini</a:t>
            </a:r>
            <a:r>
              <a:rPr lang="en-US" sz="1400" dirty="0"/>
              <a:t> </a:t>
            </a:r>
            <a:r>
              <a:rPr lang="en-US" sz="1400" dirty="0" err="1"/>
              <a:t>ko‘rsatadi</a:t>
            </a:r>
            <a:r>
              <a:rPr lang="en-US" sz="1400" dirty="0" smtClean="0"/>
              <a:t>.</a:t>
            </a:r>
          </a:p>
          <a:p>
            <a:pPr>
              <a:defRPr sz="2000"/>
            </a:pPr>
            <a:r>
              <a:rPr lang="en-US" sz="1400" b="1" dirty="0" err="1"/>
              <a:t>Uzum</a:t>
            </a:r>
            <a:r>
              <a:rPr lang="en-US" sz="1400" b="1" dirty="0"/>
              <a:t> </a:t>
            </a:r>
            <a:r>
              <a:rPr lang="en-US" sz="1400" b="1" dirty="0" err="1"/>
              <a:t>Nasiya</a:t>
            </a:r>
            <a:r>
              <a:rPr lang="en-US" sz="1400" dirty="0"/>
              <a:t> – </a:t>
            </a:r>
            <a:r>
              <a:rPr lang="en-US" sz="1400" dirty="0" err="1"/>
              <a:t>muddatli</a:t>
            </a:r>
            <a:r>
              <a:rPr lang="en-US" sz="1400" dirty="0"/>
              <a:t> </a:t>
            </a:r>
            <a:r>
              <a:rPr lang="en-US" sz="1400" dirty="0" err="1"/>
              <a:t>to‘lov</a:t>
            </a:r>
            <a:r>
              <a:rPr lang="en-US" sz="1400" dirty="0"/>
              <a:t> </a:t>
            </a:r>
            <a:r>
              <a:rPr lang="en-US" sz="1400" dirty="0" err="1"/>
              <a:t>xizmatlari</a:t>
            </a:r>
            <a:r>
              <a:rPr lang="en-US" sz="1400" dirty="0"/>
              <a:t>, “BNPL” (Buy Now Pay Later) </a:t>
            </a:r>
            <a:r>
              <a:rPr lang="en-US" sz="1400" dirty="0" err="1"/>
              <a:t>ya’ni</a:t>
            </a:r>
            <a:r>
              <a:rPr lang="en-US" sz="1400" dirty="0"/>
              <a:t> </a:t>
            </a:r>
            <a:r>
              <a:rPr lang="en-US" sz="1400" dirty="0" err="1"/>
              <a:t>xaridni</a:t>
            </a:r>
            <a:r>
              <a:rPr lang="en-US" sz="1400" dirty="0"/>
              <a:t> </a:t>
            </a:r>
            <a:r>
              <a:rPr lang="en-US" sz="1400" dirty="0" err="1"/>
              <a:t>bo‘lib</a:t>
            </a:r>
            <a:r>
              <a:rPr lang="en-US" sz="1400" dirty="0"/>
              <a:t> </a:t>
            </a:r>
            <a:r>
              <a:rPr lang="en-US" sz="1400" dirty="0" err="1"/>
              <a:t>to‘lash</a:t>
            </a:r>
            <a:r>
              <a:rPr lang="en-US" sz="1400" dirty="0"/>
              <a:t> </a:t>
            </a:r>
            <a:r>
              <a:rPr lang="en-US" sz="1400" dirty="0" err="1"/>
              <a:t>imkoniyati</a:t>
            </a:r>
            <a:r>
              <a:rPr lang="en-US" sz="1400" dirty="0"/>
              <a:t>. </a:t>
            </a:r>
            <a:endParaRPr lang="en-US" sz="1400" dirty="0" smtClean="0"/>
          </a:p>
          <a:p>
            <a:pPr>
              <a:defRPr sz="2000"/>
            </a:pPr>
            <a:r>
              <a:rPr lang="en-US" sz="1400" b="1" dirty="0" err="1"/>
              <a:t>Uzum</a:t>
            </a:r>
            <a:r>
              <a:rPr lang="en-US" sz="1400" b="1" dirty="0"/>
              <a:t> Market</a:t>
            </a:r>
            <a:r>
              <a:rPr lang="en-US" sz="1400" dirty="0"/>
              <a:t> – </a:t>
            </a:r>
            <a:r>
              <a:rPr lang="en-US" sz="1400" dirty="0" err="1"/>
              <a:t>marketpleys</a:t>
            </a:r>
            <a:r>
              <a:rPr lang="en-US" sz="1400" dirty="0"/>
              <a:t>, </a:t>
            </a:r>
            <a:r>
              <a:rPr lang="en-US" sz="1400" dirty="0" err="1"/>
              <a:t>xarid</a:t>
            </a:r>
            <a:r>
              <a:rPr lang="en-US" sz="1400" dirty="0"/>
              <a:t> </a:t>
            </a:r>
            <a:r>
              <a:rPr lang="en-US" sz="1400" dirty="0" err="1"/>
              <a:t>va</a:t>
            </a:r>
            <a:r>
              <a:rPr lang="en-US" sz="1400" dirty="0"/>
              <a:t> </a:t>
            </a:r>
            <a:r>
              <a:rPr lang="en-US" sz="1400" dirty="0" err="1"/>
              <a:t>yetkazib</a:t>
            </a:r>
            <a:r>
              <a:rPr lang="en-US" sz="1400" dirty="0"/>
              <a:t> </a:t>
            </a:r>
            <a:r>
              <a:rPr lang="en-US" sz="1400" dirty="0" err="1"/>
              <a:t>berish</a:t>
            </a:r>
            <a:r>
              <a:rPr lang="en-US" sz="1400" dirty="0"/>
              <a:t> </a:t>
            </a:r>
            <a:r>
              <a:rPr lang="en-US" sz="1400" dirty="0" err="1"/>
              <a:t>servislari</a:t>
            </a:r>
            <a:r>
              <a:rPr lang="en-US" sz="1400" dirty="0"/>
              <a:t>. </a:t>
            </a:r>
            <a:endParaRPr lang="en-US" sz="1400" dirty="0" smtClean="0"/>
          </a:p>
          <a:p>
            <a:pPr>
              <a:defRPr sz="2000"/>
            </a:pPr>
            <a:r>
              <a:rPr lang="en-US" sz="1400" dirty="0" err="1"/>
              <a:t>Boshqa</a:t>
            </a:r>
            <a:r>
              <a:rPr lang="en-US" sz="1400" dirty="0"/>
              <a:t> </a:t>
            </a:r>
            <a:r>
              <a:rPr lang="en-US" sz="1400" dirty="0" err="1"/>
              <a:t>servislarga</a:t>
            </a:r>
            <a:r>
              <a:rPr lang="en-US" sz="1400" dirty="0"/>
              <a:t> </a:t>
            </a:r>
            <a:r>
              <a:rPr lang="en-US" sz="1400" dirty="0" err="1"/>
              <a:t>integratsiyalashgan</a:t>
            </a:r>
            <a:r>
              <a:rPr lang="en-US" sz="1400" dirty="0"/>
              <a:t> </a:t>
            </a:r>
            <a:r>
              <a:rPr lang="en-US" sz="1400" dirty="0" err="1"/>
              <a:t>bonuslar</a:t>
            </a:r>
            <a:r>
              <a:rPr lang="en-US" sz="1400" dirty="0"/>
              <a:t>, </a:t>
            </a:r>
            <a:r>
              <a:rPr lang="en-US" sz="1400" dirty="0" err="1"/>
              <a:t>tez</a:t>
            </a:r>
            <a:r>
              <a:rPr lang="en-US" sz="1400" dirty="0"/>
              <a:t> </a:t>
            </a:r>
            <a:r>
              <a:rPr lang="en-US" sz="1400" dirty="0" err="1"/>
              <a:t>yetkazib</a:t>
            </a:r>
            <a:r>
              <a:rPr lang="en-US" sz="1400" dirty="0"/>
              <a:t> </a:t>
            </a:r>
            <a:r>
              <a:rPr lang="en-US" sz="1400" dirty="0" err="1"/>
              <a:t>berish</a:t>
            </a:r>
            <a:r>
              <a:rPr lang="en-US" sz="1400" dirty="0"/>
              <a:t> </a:t>
            </a:r>
            <a:r>
              <a:rPr lang="en-US" sz="1400" dirty="0" err="1"/>
              <a:t>va</a:t>
            </a:r>
            <a:r>
              <a:rPr lang="en-US" sz="1400" dirty="0"/>
              <a:t> </a:t>
            </a:r>
            <a:r>
              <a:rPr lang="en-US" sz="1400" dirty="0" err="1"/>
              <a:t>boshqalar</a:t>
            </a:r>
            <a:r>
              <a:rPr lang="en-US" sz="1400" dirty="0"/>
              <a:t>.</a:t>
            </a:r>
            <a:endParaRPr lang="en-US" sz="1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Bank </a:t>
            </a:r>
            <a:r>
              <a:rPr dirty="0" err="1"/>
              <a:t>omonatlari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46020"/>
            <a:ext cx="8229600" cy="3396707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dirty="0" smtClean="0"/>
              <a:t>• </a:t>
            </a:r>
            <a:r>
              <a:rPr lang="en-US" dirty="0"/>
              <a:t>Bank </a:t>
            </a:r>
            <a:r>
              <a:rPr lang="en-US" dirty="0" err="1"/>
              <a:t>omonatlar</a:t>
            </a:r>
            <a:r>
              <a:rPr lang="en-US" dirty="0"/>
              <a:t> </a:t>
            </a:r>
            <a:r>
              <a:rPr lang="en-US" dirty="0" err="1"/>
              <a:t>bo‘yicha</a:t>
            </a:r>
            <a:r>
              <a:rPr lang="en-US" dirty="0"/>
              <a:t> </a:t>
            </a:r>
            <a:r>
              <a:rPr lang="en-US" dirty="0" err="1"/>
              <a:t>axborot</a:t>
            </a:r>
            <a:r>
              <a:rPr lang="en-US" dirty="0"/>
              <a:t> </a:t>
            </a:r>
            <a:r>
              <a:rPr lang="en-US" dirty="0" err="1"/>
              <a:t>varaqasi</a:t>
            </a:r>
            <a:r>
              <a:rPr lang="en-US" dirty="0"/>
              <a:t> (“</a:t>
            </a:r>
            <a:r>
              <a:rPr lang="en-US" dirty="0" err="1"/>
              <a:t>Savol-javob</a:t>
            </a:r>
            <a:r>
              <a:rPr lang="en-US" dirty="0"/>
              <a:t>”, “</a:t>
            </a:r>
            <a:r>
              <a:rPr lang="en-US" dirty="0" err="1"/>
              <a:t>Mutaxassislar</a:t>
            </a:r>
            <a:r>
              <a:rPr lang="en-US" dirty="0"/>
              <a:t> </a:t>
            </a:r>
            <a:r>
              <a:rPr lang="en-US" dirty="0" err="1"/>
              <a:t>javoblari</a:t>
            </a:r>
            <a:r>
              <a:rPr lang="en-US" dirty="0"/>
              <a:t>” </a:t>
            </a:r>
            <a:r>
              <a:rPr lang="en-US" dirty="0" err="1"/>
              <a:t>kabi</a:t>
            </a:r>
            <a:r>
              <a:rPr lang="en-US" dirty="0"/>
              <a:t>) </a:t>
            </a:r>
            <a:r>
              <a:rPr lang="en-US" dirty="0" err="1"/>
              <a:t>bo‘limlari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, </a:t>
            </a:r>
            <a:r>
              <a:rPr lang="en-US" dirty="0" err="1"/>
              <a:t>mijozlar</a:t>
            </a:r>
            <a:r>
              <a:rPr lang="en-US" dirty="0"/>
              <a:t> </a:t>
            </a:r>
            <a:r>
              <a:rPr lang="en-US" dirty="0" err="1"/>
              <a:t>omonatlar</a:t>
            </a:r>
            <a:r>
              <a:rPr lang="en-US" dirty="0"/>
              <a:t>, </a:t>
            </a:r>
            <a:r>
              <a:rPr lang="en-US" dirty="0" err="1"/>
              <a:t>kreditlar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bank </a:t>
            </a:r>
            <a:r>
              <a:rPr lang="en-US" dirty="0" err="1"/>
              <a:t>mahsulotlari</a:t>
            </a:r>
            <a:r>
              <a:rPr lang="en-US" dirty="0"/>
              <a:t> </a:t>
            </a:r>
            <a:r>
              <a:rPr lang="en-US" dirty="0" err="1"/>
              <a:t>bo‘yicha</a:t>
            </a:r>
            <a:r>
              <a:rPr lang="en-US" dirty="0"/>
              <a:t> </a:t>
            </a:r>
            <a:r>
              <a:rPr lang="en-US" dirty="0" err="1"/>
              <a:t>savollar</a:t>
            </a:r>
            <a:r>
              <a:rPr lang="en-US" dirty="0"/>
              <a:t> </a:t>
            </a:r>
            <a:r>
              <a:rPr lang="en-US" dirty="0" err="1"/>
              <a:t>bera</a:t>
            </a:r>
            <a:r>
              <a:rPr lang="en-US" dirty="0"/>
              <a:t> </a:t>
            </a:r>
            <a:r>
              <a:rPr lang="en-US" dirty="0" err="1"/>
              <a:t>olishadi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r>
              <a:rPr dirty="0" smtClean="0"/>
              <a:t>• </a:t>
            </a:r>
            <a:r>
              <a:rPr lang="en-US" dirty="0"/>
              <a:t>Bank </a:t>
            </a:r>
            <a:r>
              <a:rPr lang="en-US" dirty="0" err="1"/>
              <a:t>omonatlarini</a:t>
            </a:r>
            <a:r>
              <a:rPr lang="en-US" dirty="0"/>
              <a:t> </a:t>
            </a:r>
            <a:r>
              <a:rPr lang="en-US" dirty="0" err="1"/>
              <a:t>kafolatlash</a:t>
            </a:r>
            <a:r>
              <a:rPr lang="en-US" dirty="0"/>
              <a:t> </a:t>
            </a:r>
            <a:r>
              <a:rPr lang="en-US" dirty="0" err="1"/>
              <a:t>tizimi</a:t>
            </a:r>
            <a:r>
              <a:rPr lang="en-US" dirty="0"/>
              <a:t> </a:t>
            </a:r>
            <a:r>
              <a:rPr lang="en-US" dirty="0" err="1"/>
              <a:t>O‘zbekiston</a:t>
            </a:r>
            <a:r>
              <a:rPr lang="en-US" dirty="0"/>
              <a:t> </a:t>
            </a:r>
            <a:r>
              <a:rPr lang="en-US" dirty="0" err="1"/>
              <a:t>Respublikasi</a:t>
            </a:r>
            <a:r>
              <a:rPr lang="en-US" dirty="0"/>
              <a:t> </a:t>
            </a:r>
            <a:r>
              <a:rPr lang="en-US" dirty="0" err="1"/>
              <a:t>qonunchiligi</a:t>
            </a:r>
            <a:r>
              <a:rPr lang="en-US" dirty="0"/>
              <a:t> </a:t>
            </a:r>
            <a:r>
              <a:rPr lang="en-US" dirty="0" err="1"/>
              <a:t>asosida</a:t>
            </a:r>
            <a:r>
              <a:rPr lang="en-US" dirty="0"/>
              <a:t> </a:t>
            </a:r>
            <a:r>
              <a:rPr lang="en-US" dirty="0" err="1"/>
              <a:t>amal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 — </a:t>
            </a:r>
            <a:r>
              <a:rPr lang="en-US" dirty="0" err="1"/>
              <a:t>ya’ni</a:t>
            </a:r>
            <a:r>
              <a:rPr lang="en-US" dirty="0"/>
              <a:t> </a:t>
            </a:r>
            <a:r>
              <a:rPr lang="en-US" dirty="0" err="1"/>
              <a:t>fuqarolarning</a:t>
            </a:r>
            <a:r>
              <a:rPr lang="en-US" dirty="0"/>
              <a:t> </a:t>
            </a:r>
            <a:r>
              <a:rPr lang="en-US" dirty="0" err="1"/>
              <a:t>bankdagi</a:t>
            </a:r>
            <a:r>
              <a:rPr lang="en-US" dirty="0"/>
              <a:t> </a:t>
            </a:r>
            <a:r>
              <a:rPr lang="en-US" dirty="0" err="1"/>
              <a:t>omonatlari</a:t>
            </a:r>
            <a:r>
              <a:rPr lang="en-US" dirty="0"/>
              <a:t> </a:t>
            </a:r>
            <a:r>
              <a:rPr lang="en-US" dirty="0" err="1"/>
              <a:t>davlat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kafolatlanadi</a:t>
            </a:r>
            <a:r>
              <a:rPr lang="en-US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 err="1" smtClean="0"/>
              <a:t>Omonatlarning</a:t>
            </a:r>
            <a:r>
              <a:rPr dirty="0" smtClean="0"/>
              <a:t> </a:t>
            </a:r>
            <a:r>
              <a:rPr dirty="0" err="1" smtClean="0"/>
              <a:t>afzalliklari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471898" cy="3530600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omonatlari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to‘g‘risida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aniq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afzalliklar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rasmiy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manbalarda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kengroq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bayon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etilmagan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bo‘lsa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-da,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umumiy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depozitlarining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xizmatlarining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ayrim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afzalliklari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quyidagicha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Mobil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ilova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boshqarish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Raqamli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xizmatlarga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qulaylik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onlayn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omonat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ochish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mobil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ilova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boshqarish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kabi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mavjud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bo‘lishi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ehtimoli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yuqori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ekotizimi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bunday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xizmatlarga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katta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urg‘u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beradi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Tezkor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shaffof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xizmatlar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lang="en-US" sz="14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Integratsiya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mijozlari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Market”, “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Nasiya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boshqa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servislardan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foydalanish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bonuslar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chegirmalar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yoki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qo‘shimcha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qulayliklarga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bo‘lishi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mumkin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5296"/>
            <a:ext cx="8229600" cy="811851"/>
          </a:xfrm>
        </p:spPr>
        <p:txBody>
          <a:bodyPr/>
          <a:lstStyle/>
          <a:p>
            <a:pPr>
              <a:defRPr sz="3200" b="1"/>
            </a:pPr>
            <a:r>
              <a:rPr dirty="0"/>
              <a:t>Bank </a:t>
            </a:r>
            <a:r>
              <a:rPr dirty="0" err="1"/>
              <a:t>kreditlari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782" y="2489200"/>
            <a:ext cx="8363438" cy="3530600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Mikroqarz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kartaga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mikroqarz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kartaga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muddatli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mikroqarz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imkonini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beradi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Misol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 1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oy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muddatga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foiz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stavkasi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0%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summasi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25,000,000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so‘mgacha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Muddatli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to‘lov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(Buy Now Pay Later / BNPL)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Xaridni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bo‘lib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to‘lash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ekotizimida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xizmat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keng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qo‘llanadi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 err="1"/>
              <a:t>Kreditlarning</a:t>
            </a:r>
            <a:r>
              <a:rPr dirty="0"/>
              <a:t> </a:t>
            </a:r>
            <a:r>
              <a:rPr dirty="0" err="1"/>
              <a:t>afzalliklari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69078" cy="3530600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Foizsiz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yoki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past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foizli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kreditlar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masalan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mikroqarz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mahsulotida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foiz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stavkasi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0%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boshlanadi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  <a:defRPr sz="2000"/>
            </a:pPr>
            <a:endParaRPr lang="en-US" sz="16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ez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qulay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rasmiylashtirish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onlayn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ariza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bank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kartasi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yoki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mobil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ilovalar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foydalanish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imkoniyati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  <a:defRPr sz="2000"/>
            </a:pPr>
            <a:endParaRPr lang="en-US" sz="16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 sz="2000"/>
            </a:pPr>
            <a:r>
              <a:rPr lang="en-US" sz="16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Integratsiyalashgan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servislardan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foydalanish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xaridlar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to‘lovlar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muddatli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to‘lov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bonus-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siyosatlar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qo‘shimcha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qulayliklar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628702"/>
            <a:ext cx="7886700" cy="708128"/>
          </a:xfrm>
        </p:spPr>
        <p:txBody>
          <a:bodyPr/>
          <a:lstStyle/>
          <a:p>
            <a:pPr>
              <a:defRPr sz="3200" b="1"/>
            </a:pPr>
            <a:r>
              <a:rPr dirty="0" err="1"/>
              <a:t>Bankning</a:t>
            </a:r>
            <a:r>
              <a:rPr dirty="0"/>
              <a:t> </a:t>
            </a:r>
            <a:r>
              <a:rPr dirty="0" err="1"/>
              <a:t>ustuvor</a:t>
            </a:r>
            <a:r>
              <a:rPr dirty="0"/>
              <a:t> </a:t>
            </a:r>
            <a:r>
              <a:rPr dirty="0" err="1"/>
              <a:t>yo‘nalishlari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8380"/>
            <a:ext cx="8229600" cy="4465320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Raqamli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xizmatlarini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kengaytirish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modernizatsiya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qilish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 sz="2000"/>
            </a:pP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Bank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yaxshi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raqamli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bank”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nominatsiyasida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tan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olingan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fintech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yechimlarini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ekotizimga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integratsiyalashga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katta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e’tibor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qaratiladi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 sz="2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Virtual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plastik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kartalar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QR-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kodli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to‘lov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imkoniyatlari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kengaytirilmoqda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indent="-457200">
              <a:buFont typeface="+mj-lt"/>
              <a:buAutoNum type="arabicPeriod" startAt="2"/>
              <a:defRPr sz="2000"/>
            </a:pPr>
            <a:r>
              <a:rPr lang="it-IT" sz="1400" b="1" dirty="0">
                <a:latin typeface="Calibri" panose="020F0502020204030204" pitchFamily="34" charset="0"/>
                <a:cs typeface="Calibri" panose="020F0502020204030204" pitchFamily="34" charset="0"/>
              </a:rPr>
              <a:t>Fintech va </a:t>
            </a:r>
            <a:r>
              <a:rPr lang="it-IT" sz="1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e-commerce </a:t>
            </a:r>
            <a:r>
              <a:rPr lang="it-IT" sz="1400" b="1" dirty="0">
                <a:latin typeface="Calibri" panose="020F0502020204030204" pitchFamily="34" charset="0"/>
                <a:cs typeface="Calibri" panose="020F0502020204030204" pitchFamily="34" charset="0"/>
              </a:rPr>
              <a:t>ekotizimini </a:t>
            </a:r>
            <a:r>
              <a:rPr lang="it-IT" sz="1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rivojlantirish</a:t>
            </a:r>
          </a:p>
          <a:p>
            <a:pPr lvl="1">
              <a:defRPr sz="2000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“Buy Now Pay Later” (BNPL)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xizmatlari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mikroqarzlar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bo‘lib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to‘lash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imkoniyatlarini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ommaviylashtirish</a:t>
            </a: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 sz="2000"/>
            </a:pP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Market, express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yetkazib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berish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Tezkor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kabi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savdo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logistika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infratuzilmasini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kengaytirish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>
              <a:buFont typeface="+mj-lt"/>
              <a:buAutoNum type="arabicPeriod" startAt="2"/>
              <a:defRPr sz="2000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Moliyaviy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kirish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(financial inclusion</a:t>
            </a:r>
            <a:r>
              <a:rPr lang="en-US" sz="1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800100" lvl="1">
              <a:defRPr sz="2000"/>
            </a:pP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Uzum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imkoniyatlarini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chekka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hududlar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kichik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shaharlardagi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aholi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uchun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ham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qulay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qilish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barcha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yo‘llar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orqali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bank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xizmatlariga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erkin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kirish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imkoniyati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yaratish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0100" lvl="1">
              <a:defRPr sz="2000"/>
            </a:pP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Moliyaviy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savodxonlik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raqamli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savodxonlikni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oshirish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9620" y="670878"/>
            <a:ext cx="7559040" cy="904682"/>
          </a:xfrm>
        </p:spPr>
        <p:txBody>
          <a:bodyPr>
            <a:normAutofit/>
          </a:bodyPr>
          <a:lstStyle/>
          <a:p>
            <a:r>
              <a:rPr lang="en-US" sz="3200" b="1" dirty="0" err="1" smtClean="0"/>
              <a:t>Bankning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ustuvor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yo‘nalishlari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08860"/>
            <a:ext cx="8229600" cy="381730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it-IT" sz="1800" b="1" dirty="0"/>
              <a:t>Kapital va moliyaviy barqarorlikni </a:t>
            </a:r>
            <a:r>
              <a:rPr lang="it-IT" sz="1800" b="1" dirty="0" smtClean="0"/>
              <a:t>mustahkamlash</a:t>
            </a:r>
          </a:p>
          <a:p>
            <a:pPr lvl="1"/>
            <a:r>
              <a:rPr lang="ru-RU" sz="1600" dirty="0" err="1"/>
              <a:t>Ustav</a:t>
            </a:r>
            <a:r>
              <a:rPr lang="ru-RU" sz="1600" dirty="0"/>
              <a:t> </a:t>
            </a:r>
            <a:r>
              <a:rPr lang="ru-RU" sz="1600" dirty="0" err="1"/>
              <a:t>kapitalini</a:t>
            </a:r>
            <a:r>
              <a:rPr lang="ru-RU" sz="1600" dirty="0"/>
              <a:t> </a:t>
            </a:r>
            <a:r>
              <a:rPr lang="ru-RU" sz="1600" dirty="0" err="1"/>
              <a:t>oshirish</a:t>
            </a:r>
            <a:r>
              <a:rPr lang="ru-RU" sz="1600" dirty="0"/>
              <a:t>, </a:t>
            </a:r>
            <a:r>
              <a:rPr lang="ru-RU" sz="1600" dirty="0" err="1"/>
              <a:t>bankning</a:t>
            </a:r>
            <a:r>
              <a:rPr lang="ru-RU" sz="1600" dirty="0"/>
              <a:t> </a:t>
            </a:r>
            <a:r>
              <a:rPr lang="ru-RU" sz="1600" dirty="0" err="1"/>
              <a:t>moliyaviy</a:t>
            </a:r>
            <a:r>
              <a:rPr lang="ru-RU" sz="1600" dirty="0"/>
              <a:t> </a:t>
            </a:r>
            <a:r>
              <a:rPr lang="ru-RU" sz="1600" dirty="0" err="1"/>
              <a:t>bazasini</a:t>
            </a:r>
            <a:r>
              <a:rPr lang="ru-RU" sz="1600" dirty="0"/>
              <a:t> </a:t>
            </a:r>
            <a:r>
              <a:rPr lang="ru-RU" sz="1600" dirty="0" err="1"/>
              <a:t>kuchaytirish</a:t>
            </a:r>
            <a:r>
              <a:rPr lang="ru-RU" sz="1600" dirty="0"/>
              <a:t>.</a:t>
            </a:r>
            <a:endParaRPr lang="en-US" sz="1600" dirty="0"/>
          </a:p>
          <a:p>
            <a:pPr lvl="1"/>
            <a:r>
              <a:rPr lang="ru-RU" sz="1600" dirty="0" err="1"/>
              <a:t>Fitch</a:t>
            </a:r>
            <a:r>
              <a:rPr lang="ru-RU" sz="1600" dirty="0"/>
              <a:t> </a:t>
            </a:r>
            <a:r>
              <a:rPr lang="ru-RU" sz="1600" dirty="0" err="1"/>
              <a:t>kabi</a:t>
            </a:r>
            <a:r>
              <a:rPr lang="ru-RU" sz="1600" dirty="0"/>
              <a:t> </a:t>
            </a:r>
            <a:r>
              <a:rPr lang="ru-RU" sz="1600" dirty="0" err="1"/>
              <a:t>xalqaro</a:t>
            </a:r>
            <a:r>
              <a:rPr lang="ru-RU" sz="1600" dirty="0"/>
              <a:t> </a:t>
            </a:r>
            <a:r>
              <a:rPr lang="ru-RU" sz="1600" dirty="0" err="1"/>
              <a:t>reyting</a:t>
            </a:r>
            <a:r>
              <a:rPr lang="ru-RU" sz="1600" dirty="0"/>
              <a:t> </a:t>
            </a:r>
            <a:r>
              <a:rPr lang="ru-RU" sz="1600" dirty="0" err="1"/>
              <a:t>agentliklaridan</a:t>
            </a:r>
            <a:r>
              <a:rPr lang="ru-RU" sz="1600" dirty="0"/>
              <a:t> </a:t>
            </a:r>
            <a:r>
              <a:rPr lang="ru-RU" sz="1600" dirty="0" err="1"/>
              <a:t>baholash</a:t>
            </a:r>
            <a:r>
              <a:rPr lang="ru-RU" sz="1600" dirty="0"/>
              <a:t> </a:t>
            </a:r>
            <a:r>
              <a:rPr lang="ru-RU" sz="1600" dirty="0" err="1"/>
              <a:t>olib</a:t>
            </a:r>
            <a:r>
              <a:rPr lang="ru-RU" sz="1600" dirty="0"/>
              <a:t>, </a:t>
            </a:r>
            <a:r>
              <a:rPr lang="ru-RU" sz="1600" dirty="0" err="1"/>
              <a:t>ish</a:t>
            </a:r>
            <a:r>
              <a:rPr lang="ru-RU" sz="1600" dirty="0"/>
              <a:t> </a:t>
            </a:r>
            <a:r>
              <a:rPr lang="ru-RU" sz="1600" dirty="0" err="1"/>
              <a:t>stsenariylarining</a:t>
            </a:r>
            <a:r>
              <a:rPr lang="ru-RU" sz="1600" dirty="0"/>
              <a:t> </a:t>
            </a:r>
            <a:r>
              <a:rPr lang="ru-RU" sz="1600" dirty="0" err="1"/>
              <a:t>ishonchliligini</a:t>
            </a:r>
            <a:r>
              <a:rPr lang="ru-RU" sz="1600" dirty="0"/>
              <a:t> </a:t>
            </a:r>
            <a:r>
              <a:rPr lang="ru-RU" sz="1600" dirty="0" err="1"/>
              <a:t>oshirish</a:t>
            </a:r>
            <a:r>
              <a:rPr lang="ru-RU" sz="1600" dirty="0"/>
              <a:t>.</a:t>
            </a:r>
          </a:p>
          <a:p>
            <a:pPr>
              <a:buFont typeface="+mj-lt"/>
              <a:buAutoNum type="arabicPeriod" startAt="5"/>
            </a:pPr>
            <a:r>
              <a:rPr lang="en-US" sz="1800" b="1" dirty="0" err="1"/>
              <a:t>Hamkorlik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 smtClean="0"/>
              <a:t>kengayish</a:t>
            </a:r>
            <a:endParaRPr lang="en-US" sz="1800" b="1" dirty="0" smtClean="0"/>
          </a:p>
          <a:p>
            <a:pPr lvl="1"/>
            <a:r>
              <a:rPr lang="ru-RU" sz="1600" dirty="0" err="1" smtClean="0"/>
              <a:t>Markaziy</a:t>
            </a:r>
            <a:r>
              <a:rPr lang="ru-RU" sz="1600" dirty="0" smtClean="0"/>
              <a:t> </a:t>
            </a:r>
            <a:r>
              <a:rPr lang="ru-RU" sz="1600" dirty="0" err="1" smtClean="0"/>
              <a:t>Osiyo</a:t>
            </a:r>
            <a:r>
              <a:rPr lang="ru-RU" sz="1600" dirty="0" smtClean="0"/>
              <a:t> </a:t>
            </a:r>
            <a:r>
              <a:rPr lang="ru-RU" sz="1600" dirty="0" err="1" smtClean="0"/>
              <a:t>bo‘yicha</a:t>
            </a:r>
            <a:r>
              <a:rPr lang="ru-RU" sz="1600" dirty="0" smtClean="0"/>
              <a:t> </a:t>
            </a:r>
            <a:r>
              <a:rPr lang="ru-RU" sz="1600" dirty="0" err="1" smtClean="0"/>
              <a:t>boshqa</a:t>
            </a:r>
            <a:r>
              <a:rPr lang="ru-RU" sz="1600" dirty="0" smtClean="0"/>
              <a:t> </a:t>
            </a:r>
            <a:r>
              <a:rPr lang="ru-RU" sz="1600" dirty="0" err="1" smtClean="0"/>
              <a:t>banklar</a:t>
            </a:r>
            <a:r>
              <a:rPr lang="ru-RU" sz="1600" dirty="0" smtClean="0"/>
              <a:t> </a:t>
            </a:r>
            <a:r>
              <a:rPr lang="ru-RU" sz="1600" dirty="0" err="1" smtClean="0"/>
              <a:t>bilan</a:t>
            </a:r>
            <a:r>
              <a:rPr lang="ru-RU" sz="1600" dirty="0" smtClean="0"/>
              <a:t> </a:t>
            </a:r>
            <a:r>
              <a:rPr lang="ru-RU" sz="1600" dirty="0" err="1" smtClean="0"/>
              <a:t>fintech</a:t>
            </a:r>
            <a:r>
              <a:rPr lang="ru-RU" sz="1600" dirty="0" smtClean="0"/>
              <a:t> </a:t>
            </a:r>
            <a:r>
              <a:rPr lang="ru-RU" sz="1600" dirty="0" err="1" smtClean="0"/>
              <a:t>hamkorliklarini</a:t>
            </a:r>
            <a:r>
              <a:rPr lang="ru-RU" sz="1600" dirty="0" smtClean="0"/>
              <a:t> </a:t>
            </a:r>
            <a:r>
              <a:rPr lang="ru-RU" sz="1600" dirty="0" err="1" smtClean="0"/>
              <a:t>kengaytirish</a:t>
            </a:r>
            <a:r>
              <a:rPr lang="ru-RU" sz="1600" dirty="0" smtClean="0"/>
              <a:t>, </a:t>
            </a:r>
            <a:r>
              <a:rPr lang="ru-RU" sz="1600" dirty="0" err="1" smtClean="0"/>
              <a:t>chegara</a:t>
            </a:r>
            <a:r>
              <a:rPr lang="ru-RU" sz="1600" dirty="0" smtClean="0"/>
              <a:t> </a:t>
            </a:r>
            <a:r>
              <a:rPr lang="ru-RU" sz="1600" dirty="0" err="1" smtClean="0"/>
              <a:t>bo‘yicha</a:t>
            </a:r>
            <a:r>
              <a:rPr lang="ru-RU" sz="1600" dirty="0" smtClean="0"/>
              <a:t> </a:t>
            </a:r>
            <a:r>
              <a:rPr lang="ru-RU" sz="1600" dirty="0" err="1" smtClean="0"/>
              <a:t>pul</a:t>
            </a:r>
            <a:r>
              <a:rPr lang="ru-RU" sz="1600" dirty="0" smtClean="0"/>
              <a:t> </a:t>
            </a:r>
            <a:r>
              <a:rPr lang="ru-RU" sz="1600" dirty="0" err="1" smtClean="0"/>
              <a:t>o‘tkazmalarini</a:t>
            </a:r>
            <a:r>
              <a:rPr lang="ru-RU" sz="1600" dirty="0" smtClean="0"/>
              <a:t> </a:t>
            </a:r>
            <a:r>
              <a:rPr lang="ru-RU" sz="1600" dirty="0" err="1" smtClean="0"/>
              <a:t>soddalashtirish</a:t>
            </a:r>
            <a:endParaRPr lang="en-US" sz="1600" dirty="0" smtClean="0"/>
          </a:p>
          <a:p>
            <a:pPr lvl="1"/>
            <a:r>
              <a:rPr lang="ru-RU" sz="1600" dirty="0" err="1" smtClean="0"/>
              <a:t>Investitsiyalar</a:t>
            </a:r>
            <a:r>
              <a:rPr lang="ru-RU" sz="1600" dirty="0" smtClean="0"/>
              <a:t> </a:t>
            </a:r>
            <a:r>
              <a:rPr lang="ru-RU" sz="1600" dirty="0" err="1" smtClean="0"/>
              <a:t>jalb</a:t>
            </a:r>
            <a:r>
              <a:rPr lang="ru-RU" sz="1600" dirty="0" smtClean="0"/>
              <a:t> </a:t>
            </a:r>
            <a:r>
              <a:rPr lang="ru-RU" sz="1600" dirty="0" err="1" smtClean="0"/>
              <a:t>qilish</a:t>
            </a:r>
            <a:r>
              <a:rPr lang="ru-RU" sz="1600" dirty="0" smtClean="0"/>
              <a:t> </a:t>
            </a:r>
            <a:r>
              <a:rPr lang="ru-RU" sz="1600" dirty="0" err="1" smtClean="0"/>
              <a:t>va</a:t>
            </a:r>
            <a:r>
              <a:rPr lang="ru-RU" sz="1600" dirty="0" smtClean="0"/>
              <a:t> </a:t>
            </a:r>
            <a:r>
              <a:rPr lang="ru-RU" sz="1600" dirty="0" err="1" smtClean="0"/>
              <a:t>yangi</a:t>
            </a:r>
            <a:r>
              <a:rPr lang="ru-RU" sz="1600" dirty="0" smtClean="0"/>
              <a:t> </a:t>
            </a:r>
            <a:r>
              <a:rPr lang="ru-RU" sz="1600" dirty="0" err="1" smtClean="0"/>
              <a:t>biznes</a:t>
            </a:r>
            <a:r>
              <a:rPr lang="ru-RU" sz="1600" dirty="0" smtClean="0"/>
              <a:t> </a:t>
            </a:r>
            <a:r>
              <a:rPr lang="ru-RU" sz="1600" dirty="0" err="1" smtClean="0"/>
              <a:t>yo‘nalishlarida</a:t>
            </a:r>
            <a:r>
              <a:rPr lang="ru-RU" sz="1600" dirty="0" smtClean="0"/>
              <a:t> </a:t>
            </a:r>
            <a:r>
              <a:rPr lang="ru-RU" sz="1600" dirty="0" err="1" smtClean="0"/>
              <a:t>kengayish</a:t>
            </a:r>
            <a:r>
              <a:rPr lang="ru-RU" sz="1600" dirty="0" smtClean="0"/>
              <a:t>.</a:t>
            </a:r>
          </a:p>
          <a:p>
            <a:pPr lvl="1"/>
            <a:endParaRPr lang="en-US" sz="1800" b="1" dirty="0" smtClean="0"/>
          </a:p>
          <a:p>
            <a:pPr>
              <a:buFont typeface="+mj-lt"/>
              <a:buAutoNum type="arabicPeriod" startAt="5"/>
            </a:pPr>
            <a:r>
              <a:rPr lang="en-US" sz="1800" b="1" dirty="0" err="1"/>
              <a:t>Mahalliy</a:t>
            </a:r>
            <a:r>
              <a:rPr lang="en-US" sz="1800" b="1" dirty="0"/>
              <a:t> </a:t>
            </a:r>
            <a:r>
              <a:rPr lang="en-US" sz="1800" b="1" dirty="0" err="1"/>
              <a:t>infratuzilma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xizmatlarni</a:t>
            </a:r>
            <a:r>
              <a:rPr lang="en-US" sz="1800" b="1" dirty="0"/>
              <a:t> </a:t>
            </a:r>
            <a:r>
              <a:rPr lang="en-US" sz="1800" b="1" dirty="0" err="1" smtClean="0"/>
              <a:t>lokalizatsiyalash</a:t>
            </a:r>
            <a:endParaRPr lang="en-US" sz="1800" b="1" dirty="0" smtClean="0"/>
          </a:p>
          <a:p>
            <a:pPr lvl="1"/>
            <a:r>
              <a:rPr lang="ru-RU" sz="1600" dirty="0" err="1"/>
              <a:t>Regionlar</a:t>
            </a:r>
            <a:r>
              <a:rPr lang="ru-RU" sz="1600" dirty="0"/>
              <a:t> </a:t>
            </a:r>
            <a:r>
              <a:rPr lang="ru-RU" sz="1600" dirty="0" err="1"/>
              <a:t>va</a:t>
            </a:r>
            <a:r>
              <a:rPr lang="ru-RU" sz="1600" dirty="0"/>
              <a:t> </a:t>
            </a:r>
            <a:r>
              <a:rPr lang="ru-RU" sz="1600" dirty="0" err="1"/>
              <a:t>mahalliy</a:t>
            </a:r>
            <a:r>
              <a:rPr lang="ru-RU" sz="1600" dirty="0"/>
              <a:t> </a:t>
            </a:r>
            <a:r>
              <a:rPr lang="ru-RU" sz="1600" dirty="0" err="1"/>
              <a:t>aholiga</a:t>
            </a:r>
            <a:r>
              <a:rPr lang="ru-RU" sz="1600" dirty="0"/>
              <a:t> </a:t>
            </a:r>
            <a:r>
              <a:rPr lang="ru-RU" sz="1600" dirty="0" err="1"/>
              <a:t>xizmatni</a:t>
            </a:r>
            <a:r>
              <a:rPr lang="ru-RU" sz="1600" dirty="0"/>
              <a:t> </a:t>
            </a:r>
            <a:r>
              <a:rPr lang="ru-RU" sz="1600" dirty="0" err="1"/>
              <a:t>soddaroq</a:t>
            </a:r>
            <a:r>
              <a:rPr lang="ru-RU" sz="1600" dirty="0"/>
              <a:t>, </a:t>
            </a:r>
            <a:r>
              <a:rPr lang="ru-RU" sz="1600" dirty="0" err="1"/>
              <a:t>tezkor</a:t>
            </a:r>
            <a:r>
              <a:rPr lang="ru-RU" sz="1600" dirty="0"/>
              <a:t> </a:t>
            </a:r>
            <a:r>
              <a:rPr lang="ru-RU" sz="1600" dirty="0" err="1"/>
              <a:t>va</a:t>
            </a:r>
            <a:r>
              <a:rPr lang="ru-RU" sz="1600" dirty="0"/>
              <a:t> </a:t>
            </a:r>
            <a:r>
              <a:rPr lang="ru-RU" sz="1600" dirty="0" err="1"/>
              <a:t>ishonchli</a:t>
            </a:r>
            <a:r>
              <a:rPr lang="ru-RU" sz="1600" dirty="0"/>
              <a:t> </a:t>
            </a:r>
            <a:r>
              <a:rPr lang="ru-RU" sz="1600" dirty="0" err="1"/>
              <a:t>qilish</a:t>
            </a:r>
            <a:r>
              <a:rPr lang="ru-RU" sz="1600" dirty="0"/>
              <a:t> (</a:t>
            </a:r>
            <a:r>
              <a:rPr lang="ru-RU" sz="1600" dirty="0" err="1"/>
              <a:t>kartalarni</a:t>
            </a:r>
            <a:r>
              <a:rPr lang="ru-RU" sz="1600" dirty="0"/>
              <a:t> </a:t>
            </a:r>
            <a:r>
              <a:rPr lang="ru-RU" sz="1600" dirty="0" err="1"/>
              <a:t>yetkazib</a:t>
            </a:r>
            <a:r>
              <a:rPr lang="ru-RU" sz="1600" dirty="0"/>
              <a:t> </a:t>
            </a:r>
            <a:r>
              <a:rPr lang="ru-RU" sz="1600" dirty="0" err="1"/>
              <a:t>berish</a:t>
            </a:r>
            <a:r>
              <a:rPr lang="ru-RU" sz="1600" dirty="0"/>
              <a:t>, “</a:t>
            </a:r>
            <a:r>
              <a:rPr lang="ru-RU" sz="1600" dirty="0" err="1"/>
              <a:t>pick-up</a:t>
            </a:r>
            <a:r>
              <a:rPr lang="ru-RU" sz="1600" dirty="0"/>
              <a:t>” </a:t>
            </a:r>
            <a:r>
              <a:rPr lang="ru-RU" sz="1600" dirty="0" err="1"/>
              <a:t>punktlar</a:t>
            </a:r>
            <a:r>
              <a:rPr lang="ru-RU" sz="1600" dirty="0"/>
              <a:t>, </a:t>
            </a:r>
            <a:r>
              <a:rPr lang="ru-RU" sz="1600" dirty="0" err="1"/>
              <a:t>mobil</a:t>
            </a:r>
            <a:r>
              <a:rPr lang="ru-RU" sz="1600" dirty="0"/>
              <a:t> </a:t>
            </a:r>
            <a:r>
              <a:rPr lang="ru-RU" sz="1600" dirty="0" err="1"/>
              <a:t>ilovalarda</a:t>
            </a:r>
            <a:r>
              <a:rPr lang="ru-RU" sz="1600" dirty="0"/>
              <a:t> </a:t>
            </a:r>
            <a:r>
              <a:rPr lang="ru-RU" sz="1600" dirty="0" err="1"/>
              <a:t>qulayliklar</a:t>
            </a:r>
            <a:r>
              <a:rPr lang="ru-RU" sz="1600" dirty="0"/>
              <a:t>). </a:t>
            </a:r>
            <a:endParaRPr lang="en-US" sz="1600" dirty="0"/>
          </a:p>
          <a:p>
            <a:pPr lvl="1"/>
            <a:r>
              <a:rPr lang="ru-RU" sz="1600" dirty="0" err="1"/>
              <a:t>Mahalliy</a:t>
            </a:r>
            <a:r>
              <a:rPr lang="ru-RU" sz="1600" dirty="0"/>
              <a:t> </a:t>
            </a:r>
            <a:r>
              <a:rPr lang="ru-RU" sz="1600" dirty="0" err="1"/>
              <a:t>infratuzilma</a:t>
            </a:r>
            <a:r>
              <a:rPr lang="ru-RU" sz="1600" dirty="0"/>
              <a:t> (</a:t>
            </a:r>
            <a:r>
              <a:rPr lang="ru-RU" sz="1600" dirty="0" err="1"/>
              <a:t>raqamli</a:t>
            </a:r>
            <a:r>
              <a:rPr lang="ru-RU" sz="1600" dirty="0"/>
              <a:t> </a:t>
            </a:r>
            <a:r>
              <a:rPr lang="ru-RU" sz="1600" dirty="0" err="1"/>
              <a:t>stek</a:t>
            </a:r>
            <a:r>
              <a:rPr lang="ru-RU" sz="1600" dirty="0"/>
              <a:t>, QR-</a:t>
            </a:r>
            <a:r>
              <a:rPr lang="ru-RU" sz="1600" dirty="0" err="1"/>
              <a:t>kodlar</a:t>
            </a:r>
            <a:r>
              <a:rPr lang="ru-RU" sz="1600" dirty="0"/>
              <a:t>, </a:t>
            </a:r>
            <a:r>
              <a:rPr lang="ru-RU" sz="1600" dirty="0" err="1"/>
              <a:t>Visa</a:t>
            </a:r>
            <a:r>
              <a:rPr lang="ru-RU" sz="1600" dirty="0"/>
              <a:t> </a:t>
            </a:r>
            <a:r>
              <a:rPr lang="ru-RU" sz="1600" dirty="0" err="1"/>
              <a:t>kabi</a:t>
            </a:r>
            <a:r>
              <a:rPr lang="ru-RU" sz="1600" dirty="0"/>
              <a:t> </a:t>
            </a:r>
            <a:r>
              <a:rPr lang="ru-RU" sz="1600" dirty="0" err="1"/>
              <a:t>xalqaro</a:t>
            </a:r>
            <a:r>
              <a:rPr lang="ru-RU" sz="1600" dirty="0"/>
              <a:t> </a:t>
            </a:r>
            <a:r>
              <a:rPr lang="ru-RU" sz="1600" dirty="0" err="1"/>
              <a:t>to‘lov</a:t>
            </a:r>
            <a:r>
              <a:rPr lang="ru-RU" sz="1600" dirty="0"/>
              <a:t> </a:t>
            </a:r>
            <a:r>
              <a:rPr lang="ru-RU" sz="1600" dirty="0" err="1"/>
              <a:t>tizimlari</a:t>
            </a:r>
            <a:r>
              <a:rPr lang="ru-RU" sz="1600" dirty="0"/>
              <a:t> </a:t>
            </a:r>
            <a:r>
              <a:rPr lang="ru-RU" sz="1600" dirty="0" err="1"/>
              <a:t>bilan</a:t>
            </a:r>
            <a:r>
              <a:rPr lang="ru-RU" sz="1600" dirty="0"/>
              <a:t> </a:t>
            </a:r>
            <a:r>
              <a:rPr lang="ru-RU" sz="1600" dirty="0" err="1"/>
              <a:t>integratsiya</a:t>
            </a:r>
            <a:r>
              <a:rPr lang="ru-RU" sz="1600" dirty="0"/>
              <a:t>) </a:t>
            </a:r>
            <a:r>
              <a:rPr lang="ru-RU" sz="1600" dirty="0" err="1"/>
              <a:t>rivojiga</a:t>
            </a:r>
            <a:r>
              <a:rPr lang="ru-RU" sz="1600" dirty="0"/>
              <a:t> </a:t>
            </a:r>
            <a:r>
              <a:rPr lang="ru-RU" sz="1600" dirty="0" err="1"/>
              <a:t>sarf</a:t>
            </a:r>
            <a:r>
              <a:rPr lang="ru-RU" sz="1600" dirty="0"/>
              <a:t> </a:t>
            </a:r>
            <a:r>
              <a:rPr lang="ru-RU" sz="1600" dirty="0" err="1"/>
              <a:t>investitsiyalar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5632968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90</TotalTime>
  <Words>846</Words>
  <Application>Microsoft Office PowerPoint</Application>
  <PresentationFormat>Экран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Ион (конференц-зал)</vt:lpstr>
      <vt:lpstr>Uzum Bank</vt:lpstr>
      <vt:lpstr>Uzum Bank haqida umumiy ma’lumot</vt:lpstr>
      <vt:lpstr>Bankning asosiy vazifalari</vt:lpstr>
      <vt:lpstr>Ustav kapitali</vt:lpstr>
      <vt:lpstr>Aksiyalar</vt:lpstr>
      <vt:lpstr>Bank struktura va boshqaruv</vt:lpstr>
      <vt:lpstr>Bank omonatlari</vt:lpstr>
      <vt:lpstr>Omonatlarning afzalliklari</vt:lpstr>
      <vt:lpstr>Bank kreditlari</vt:lpstr>
      <vt:lpstr>Kreditlarning afzalliklari</vt:lpstr>
      <vt:lpstr>Bankning ustuvor yo‘nalishlari</vt:lpstr>
      <vt:lpstr>Bankning ustuvor yo‘nalishlari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Uzum Bank</dc:title>
  <dc:subject/>
  <dc:creator>Admin</dc:creator>
  <cp:keywords/>
  <dc:description>generated using python-pptx</dc:description>
  <cp:lastModifiedBy>Учетная запись Майкрософт</cp:lastModifiedBy>
  <cp:revision>13</cp:revision>
  <dcterms:created xsi:type="dcterms:W3CDTF">2013-01-27T09:14:16Z</dcterms:created>
  <dcterms:modified xsi:type="dcterms:W3CDTF">2025-09-16T08:19:55Z</dcterms:modified>
  <cp:category/>
</cp:coreProperties>
</file>